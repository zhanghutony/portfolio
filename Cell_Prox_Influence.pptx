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5E6DF-1260-4296-90D9-358095792738}" v="3" dt="2025-09-18T03:59:16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Zhang" userId="899f7d6f6f9fb333" providerId="LiveId" clId="{55316C95-A3BE-401A-A143-23282CC46338}"/>
    <pc:docChg chg="addSld delSld modSld">
      <pc:chgData name="Tony Zhang" userId="899f7d6f6f9fb333" providerId="LiveId" clId="{55316C95-A3BE-401A-A143-23282CC46338}" dt="2024-08-26T06:48:34.929" v="27" actId="2696"/>
      <pc:docMkLst>
        <pc:docMk/>
      </pc:docMkLst>
      <pc:sldChg chg="addSp modSp mod">
        <pc:chgData name="Tony Zhang" userId="899f7d6f6f9fb333" providerId="LiveId" clId="{55316C95-A3BE-401A-A143-23282CC46338}" dt="2024-08-26T06:48:23.215" v="25" actId="1076"/>
        <pc:sldMkLst>
          <pc:docMk/>
          <pc:sldMk cId="1596494944" sldId="273"/>
        </pc:sldMkLst>
      </pc:sldChg>
      <pc:sldChg chg="new del">
        <pc:chgData name="Tony Zhang" userId="899f7d6f6f9fb333" providerId="LiveId" clId="{55316C95-A3BE-401A-A143-23282CC46338}" dt="2024-08-26T06:48:34.929" v="27" actId="2696"/>
        <pc:sldMkLst>
          <pc:docMk/>
          <pc:sldMk cId="1554734004" sldId="280"/>
        </pc:sldMkLst>
      </pc:sldChg>
    </pc:docChg>
  </pc:docChgLst>
  <pc:docChgLst>
    <pc:chgData name="Tony Zhang" userId="899f7d6f6f9fb333" providerId="LiveId" clId="{5356C84B-4228-4C9A-8549-6C89278BDA01}"/>
    <pc:docChg chg="custSel modSld">
      <pc:chgData name="Tony Zhang" userId="899f7d6f6f9fb333" providerId="LiveId" clId="{5356C84B-4228-4C9A-8549-6C89278BDA01}" dt="2025-09-18T03:59:18.731" v="21" actId="20577"/>
      <pc:docMkLst>
        <pc:docMk/>
      </pc:docMkLst>
      <pc:sldChg chg="modSp mod">
        <pc:chgData name="Tony Zhang" userId="899f7d6f6f9fb333" providerId="LiveId" clId="{5356C84B-4228-4C9A-8549-6C89278BDA01}" dt="2025-09-18T03:59:18.731" v="21" actId="20577"/>
        <pc:sldMkLst>
          <pc:docMk/>
          <pc:sldMk cId="648193555" sldId="256"/>
        </pc:sldMkLst>
        <pc:spChg chg="mod">
          <ac:chgData name="Tony Zhang" userId="899f7d6f6f9fb333" providerId="LiveId" clId="{5356C84B-4228-4C9A-8549-6C89278BDA01}" dt="2025-09-18T03:59:18.731" v="21" actId="20577"/>
          <ac:spMkLst>
            <pc:docMk/>
            <pc:sldMk cId="648193555" sldId="256"/>
            <ac:spMk id="3" creationId="{FF7BAF62-1A86-F780-A1D4-5A7D182274C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2B5F30D8-124A-4DF8-9246-967F3133FCE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6088ECA-882C-45DE-B3F7-A5A7112CEC9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964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30D8-124A-4DF8-9246-967F3133FCE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88ECA-882C-45DE-B3F7-A5A7112CE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84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30D8-124A-4DF8-9246-967F3133FCE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88ECA-882C-45DE-B3F7-A5A7112CEC9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61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30D8-124A-4DF8-9246-967F3133FCE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88ECA-882C-45DE-B3F7-A5A7112CE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2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30D8-124A-4DF8-9246-967F3133FCE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88ECA-882C-45DE-B3F7-A5A7112CE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35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30D8-124A-4DF8-9246-967F3133FCE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88ECA-882C-45DE-B3F7-A5A7112CE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8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30D8-124A-4DF8-9246-967F3133FCE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88ECA-882C-45DE-B3F7-A5A7112CE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87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30D8-124A-4DF8-9246-967F3133FCE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88ECA-882C-45DE-B3F7-A5A7112CE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8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30D8-124A-4DF8-9246-967F3133FCE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88ECA-882C-45DE-B3F7-A5A7112CE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47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30D8-124A-4DF8-9246-967F3133FCE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88ECA-882C-45DE-B3F7-A5A7112CE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8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30D8-124A-4DF8-9246-967F3133FCE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88ECA-882C-45DE-B3F7-A5A7112CE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79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B5F30D8-124A-4DF8-9246-967F3133FCE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6088ECA-882C-45DE-B3F7-A5A7112CE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hangHuTony/SRICode_Repo/tree/mai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980A9-989C-A69B-11AA-68460C1A7E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Cell Proximity Influence on other Cell Intensity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7BAF62-1A86-F780-A1D4-5A7D182274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Tony Zhang</a:t>
            </a:r>
          </a:p>
          <a:p>
            <a:r>
              <a:rPr lang="en-US" dirty="0"/>
              <a:t>Find code </a:t>
            </a:r>
            <a:r>
              <a:rPr lang="en-US" dirty="0">
                <a:hlinkClick r:id="rId2"/>
              </a:rPr>
              <a:t>here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8193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A9C2-BC9D-A36F-779D-71E981827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210CB-93E8-F274-3442-80E8E6395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find evidence that a cell’s intensity is influenced by neighboring cells.</a:t>
            </a:r>
          </a:p>
          <a:p>
            <a:r>
              <a:rPr lang="en-US" dirty="0"/>
              <a:t>Questions:</a:t>
            </a:r>
          </a:p>
          <a:p>
            <a:pPr lvl="1"/>
            <a:r>
              <a:rPr lang="en-US" dirty="0"/>
              <a:t>If neighboring cells’ intensities are higher, will the cell also have a higher intensity.</a:t>
            </a:r>
          </a:p>
          <a:p>
            <a:pPr lvl="1"/>
            <a:r>
              <a:rPr lang="en-US" dirty="0"/>
              <a:t>If neighboring cells’ intensities are changing greatly, will the cell also have a greater change in intensity?</a:t>
            </a:r>
          </a:p>
          <a:p>
            <a:r>
              <a:rPr lang="en-US" dirty="0"/>
              <a:t>Intensity is the expression of the BRN-2 transcription factor.</a:t>
            </a:r>
          </a:p>
          <a:p>
            <a:r>
              <a:rPr lang="en-US" dirty="0"/>
              <a:t>All intensity figures were normalized by dry mass.</a:t>
            </a:r>
          </a:p>
        </p:txBody>
      </p:sp>
    </p:spTree>
    <p:extLst>
      <p:ext uri="{BB962C8B-B14F-4D97-AF65-F5344CB8AC3E}">
        <p14:creationId xmlns:p14="http://schemas.microsoft.com/office/powerpoint/2010/main" val="1632511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4CE2-5440-B342-D54B-1922901C2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Quantifying Influence of Cells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41E88-26D0-CC78-06F9-098E7616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I quantify how much a cell is influencing another cell?</a:t>
            </a:r>
          </a:p>
          <a:p>
            <a:r>
              <a:rPr lang="en-US" dirty="0"/>
              <a:t>Attempted methods:</a:t>
            </a:r>
          </a:p>
          <a:p>
            <a:pPr lvl="1"/>
            <a:r>
              <a:rPr lang="en-US" dirty="0"/>
              <a:t>Binary distance band</a:t>
            </a:r>
          </a:p>
          <a:p>
            <a:pPr lvl="1"/>
            <a:r>
              <a:rPr lang="en-US" dirty="0"/>
              <a:t>Inverse distance band</a:t>
            </a:r>
          </a:p>
          <a:p>
            <a:pPr lvl="1"/>
            <a:r>
              <a:rPr lang="en-US" dirty="0"/>
              <a:t>Mean distance to k-nearest neighbor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589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D2C53-AA7C-1E93-D8B1-62877A843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Distance Band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1812AB-1EC5-8F00-7C48-39A6363429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 cells get further away, their influence on a cell decreases.</a:t>
                </a:r>
              </a:p>
              <a:p>
                <a:r>
                  <a:rPr lang="en-US" dirty="0"/>
                  <a:t>Used equation: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𝑑𝑖𝑠𝑡𝑎𝑛𝑐𝑒</m:t>
                                </m:r>
                                <m:r>
                                  <a:rPr lang="en-US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5 different </a:t>
                </a:r>
                <a:r>
                  <a:rPr lang="en-US" dirty="0" err="1"/>
                  <a:t>sigmas</a:t>
                </a:r>
                <a:r>
                  <a:rPr lang="en-US" dirty="0"/>
                  <a:t> (50, 100, 150, 200, 250)</a:t>
                </a:r>
              </a:p>
              <a:p>
                <a:r>
                  <a:rPr lang="en-US" dirty="0"/>
                  <a:t>Larger sigma, slower rate of decline.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1812AB-1EC5-8F00-7C48-39A6363429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" t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6CF3C4AB-02C4-2A5E-4577-C5F6B7A1D093}"/>
              </a:ext>
            </a:extLst>
          </p:cNvPr>
          <p:cNvSpPr/>
          <p:nvPr/>
        </p:nvSpPr>
        <p:spPr>
          <a:xfrm>
            <a:off x="5910155" y="1997340"/>
            <a:ext cx="5150858" cy="4814715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0A527D0-E89E-79F0-668A-F024F01D639C}"/>
              </a:ext>
            </a:extLst>
          </p:cNvPr>
          <p:cNvSpPr/>
          <p:nvPr/>
        </p:nvSpPr>
        <p:spPr>
          <a:xfrm>
            <a:off x="6509884" y="2594859"/>
            <a:ext cx="3869035" cy="3619678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FA08C6-9C9C-502A-D6BE-9E3BF8578BF5}"/>
              </a:ext>
            </a:extLst>
          </p:cNvPr>
          <p:cNvSpPr/>
          <p:nvPr/>
        </p:nvSpPr>
        <p:spPr>
          <a:xfrm>
            <a:off x="7209234" y="3208707"/>
            <a:ext cx="2552700" cy="231775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6F143EA-34ED-30D4-074D-C67CEAF1E01E}"/>
              </a:ext>
            </a:extLst>
          </p:cNvPr>
          <p:cNvSpPr/>
          <p:nvPr/>
        </p:nvSpPr>
        <p:spPr>
          <a:xfrm>
            <a:off x="8126581" y="3967164"/>
            <a:ext cx="831850" cy="76835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82221D8-F0D9-9AFA-BE6F-83916E0B5227}"/>
              </a:ext>
            </a:extLst>
          </p:cNvPr>
          <p:cNvSpPr/>
          <p:nvPr/>
        </p:nvSpPr>
        <p:spPr>
          <a:xfrm>
            <a:off x="9457838" y="2580183"/>
            <a:ext cx="831850" cy="7683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9510604-F910-787C-D882-BD24A6ACA755}"/>
              </a:ext>
            </a:extLst>
          </p:cNvPr>
          <p:cNvSpPr/>
          <p:nvPr/>
        </p:nvSpPr>
        <p:spPr>
          <a:xfrm>
            <a:off x="6892732" y="5087632"/>
            <a:ext cx="831850" cy="7683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1EB5133-F2C8-3D10-F15A-30973BB32461}"/>
              </a:ext>
            </a:extLst>
          </p:cNvPr>
          <p:cNvSpPr/>
          <p:nvPr/>
        </p:nvSpPr>
        <p:spPr>
          <a:xfrm>
            <a:off x="9238577" y="5307045"/>
            <a:ext cx="831850" cy="7683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F439092-009E-8159-9FCF-B3BE75AF7CA5}"/>
              </a:ext>
            </a:extLst>
          </p:cNvPr>
          <p:cNvSpPr/>
          <p:nvPr/>
        </p:nvSpPr>
        <p:spPr>
          <a:xfrm>
            <a:off x="8958431" y="3819279"/>
            <a:ext cx="831850" cy="7683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FF098CD-83B5-1407-C591-8F9C71AF7240}"/>
              </a:ext>
            </a:extLst>
          </p:cNvPr>
          <p:cNvSpPr/>
          <p:nvPr/>
        </p:nvSpPr>
        <p:spPr>
          <a:xfrm>
            <a:off x="7022457" y="2879182"/>
            <a:ext cx="831850" cy="7683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32AEA4A-3A3E-A9D5-DB20-8FDDDD771352}"/>
              </a:ext>
            </a:extLst>
          </p:cNvPr>
          <p:cNvSpPr/>
          <p:nvPr/>
        </p:nvSpPr>
        <p:spPr>
          <a:xfrm>
            <a:off x="6111215" y="3313198"/>
            <a:ext cx="831850" cy="7683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930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2FC1-2FAA-9781-85B8-CF13AB233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Correction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F364D1-413F-3485-0575-A0EA0C90038A}"/>
              </a:ext>
            </a:extLst>
          </p:cNvPr>
          <p:cNvCxnSpPr/>
          <p:nvPr/>
        </p:nvCxnSpPr>
        <p:spPr>
          <a:xfrm>
            <a:off x="2013928" y="1846770"/>
            <a:ext cx="0" cy="33059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1EC582A-40A8-3E48-E1BC-4EBCDA45734B}"/>
              </a:ext>
            </a:extLst>
          </p:cNvPr>
          <p:cNvCxnSpPr>
            <a:cxnSpLocks/>
          </p:cNvCxnSpPr>
          <p:nvPr/>
        </p:nvCxnSpPr>
        <p:spPr>
          <a:xfrm>
            <a:off x="2013928" y="5152678"/>
            <a:ext cx="267782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984CCA3-288F-2656-EA3A-2B54813C8433}"/>
              </a:ext>
            </a:extLst>
          </p:cNvPr>
          <p:cNvSpPr/>
          <p:nvPr/>
        </p:nvSpPr>
        <p:spPr>
          <a:xfrm>
            <a:off x="1261872" y="2705100"/>
            <a:ext cx="3389033" cy="3146048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B9816E-465A-2173-2668-5333B7C407F8}"/>
              </a:ext>
            </a:extLst>
          </p:cNvPr>
          <p:cNvCxnSpPr>
            <a:cxnSpLocks/>
            <a:stCxn id="16" idx="4"/>
          </p:cNvCxnSpPr>
          <p:nvPr/>
        </p:nvCxnSpPr>
        <p:spPr>
          <a:xfrm flipH="1" flipV="1">
            <a:off x="2956388" y="5169408"/>
            <a:ext cx="1" cy="6817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A06693-42DA-E4A3-C90C-D39F84D32D12}"/>
              </a:ext>
            </a:extLst>
          </p:cNvPr>
          <p:cNvCxnSpPr>
            <a:cxnSpLocks/>
          </p:cNvCxnSpPr>
          <p:nvPr/>
        </p:nvCxnSpPr>
        <p:spPr>
          <a:xfrm>
            <a:off x="1261872" y="4324484"/>
            <a:ext cx="7520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C2B12F-A510-E9BD-4E27-B8A24ECCC26D}"/>
              </a:ext>
            </a:extLst>
          </p:cNvPr>
          <p:cNvCxnSpPr>
            <a:cxnSpLocks/>
            <a:endCxn id="16" idx="7"/>
          </p:cNvCxnSpPr>
          <p:nvPr/>
        </p:nvCxnSpPr>
        <p:spPr>
          <a:xfrm flipV="1">
            <a:off x="2910563" y="3165828"/>
            <a:ext cx="1244030" cy="11586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960DB0E-E93B-31ED-8EA3-4A67A334E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3134" y="3567625"/>
            <a:ext cx="298566" cy="30500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6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ED136DA-4037-CA58-B369-96BD9DD47624}"/>
              </a:ext>
            </a:extLst>
          </p:cNvPr>
          <p:cNvSpPr txBox="1">
            <a:spLocks/>
          </p:cNvSpPr>
          <p:nvPr/>
        </p:nvSpPr>
        <p:spPr>
          <a:xfrm>
            <a:off x="1488617" y="4057381"/>
            <a:ext cx="298566" cy="3050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3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7A44F51-4AA2-E6AB-7F87-F933A6B42562}"/>
              </a:ext>
            </a:extLst>
          </p:cNvPr>
          <p:cNvSpPr txBox="1">
            <a:spLocks/>
          </p:cNvSpPr>
          <p:nvPr/>
        </p:nvSpPr>
        <p:spPr>
          <a:xfrm>
            <a:off x="2688578" y="5348038"/>
            <a:ext cx="298566" cy="3050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A5EC6A8F-82B2-54BD-6295-D42A415C71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6955" y="1948732"/>
                <a:ext cx="4674822" cy="31019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312863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4313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65735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882775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accent2"/>
                  </a:buClr>
                  <a:buFont typeface="Arial" panose="020B0604020202020204" pitchFamily="34" charset="0"/>
                  <a:buChar char="•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Edge Correction Factor = Area of the circle/(Area of Circle – Area outside of edge)</a:t>
                </a:r>
              </a:p>
              <a:p>
                <a:r>
                  <a:rPr lang="en-US" dirty="0"/>
                  <a:t>Area outside of edge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3)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/4+</m:t>
                    </m:r>
                  </m:oMath>
                </a14:m>
                <a:r>
                  <a:rPr lang="el-GR" dirty="0"/>
                  <a:t>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/4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Sigma was used as the radius</a:t>
                </a:r>
              </a:p>
            </p:txBody>
          </p:sp>
        </mc:Choice>
        <mc:Fallback xmlns="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A5EC6A8F-82B2-54BD-6295-D42A415C7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955" y="1948732"/>
                <a:ext cx="4674822" cy="3101983"/>
              </a:xfrm>
              <a:prstGeom prst="rect">
                <a:avLst/>
              </a:prstGeom>
              <a:blipFill>
                <a:blip r:embed="rId2"/>
                <a:stretch>
                  <a:fillRect l="-913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6423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1855-D98F-D6FD-6DD4-FE02ACA8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Intensity Weighted Crowding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F34CE-F7FD-4ECF-6C53-CFE9BB390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cell would calculate influence of every other cell.</a:t>
            </a:r>
          </a:p>
          <a:p>
            <a:r>
              <a:rPr lang="en-US" dirty="0"/>
              <a:t>This influence score would be multiplied by that neighboring cell.</a:t>
            </a:r>
          </a:p>
          <a:p>
            <a:r>
              <a:rPr lang="en-US" dirty="0"/>
              <a:t>All scores would be summed for a crowding score.</a:t>
            </a:r>
          </a:p>
          <a:p>
            <a:r>
              <a:rPr lang="en-US" dirty="0"/>
              <a:t>The higher a crowding score is the greater number of cells with high intensities are surrounding it.</a:t>
            </a:r>
          </a:p>
        </p:txBody>
      </p:sp>
    </p:spTree>
    <p:extLst>
      <p:ext uri="{BB962C8B-B14F-4D97-AF65-F5344CB8AC3E}">
        <p14:creationId xmlns:p14="http://schemas.microsoft.com/office/powerpoint/2010/main" val="1539782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6D46-45E0-BE3B-1ECF-D57D1C2B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Crowding Score vs. Normalized Intensity</a:t>
            </a:r>
          </a:p>
        </p:txBody>
      </p:sp>
      <p:pic>
        <p:nvPicPr>
          <p:cNvPr id="4" name="Picture 3" descr="A graph showing a number of black dots&#10;&#10;Description automatically generated">
            <a:extLst>
              <a:ext uri="{FF2B5EF4-FFF2-40B4-BE49-F238E27FC236}">
                <a16:creationId xmlns:a16="http://schemas.microsoft.com/office/drawing/2014/main" id="{BE99855A-A1E7-BD10-87C4-9D982A1DA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95" y="1691322"/>
            <a:ext cx="6622129" cy="3838146"/>
          </a:xfrm>
          <a:prstGeom prst="rect">
            <a:avLst/>
          </a:prstGeom>
        </p:spPr>
      </p:pic>
      <p:pic>
        <p:nvPicPr>
          <p:cNvPr id="5" name="Picture 4" descr="A screen shot of numbers&#10;&#10;Description automatically generated">
            <a:extLst>
              <a:ext uri="{FF2B5EF4-FFF2-40B4-BE49-F238E27FC236}">
                <a16:creationId xmlns:a16="http://schemas.microsoft.com/office/drawing/2014/main" id="{BF9B3455-810D-A252-D254-61112FA94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005" y="5426280"/>
            <a:ext cx="5943600" cy="14287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FCC6AC-9280-1413-D488-5A6C38E5E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2523" y="1691322"/>
            <a:ext cx="3709081" cy="2573551"/>
          </a:xfrm>
        </p:spPr>
        <p:txBody>
          <a:bodyPr/>
          <a:lstStyle/>
          <a:p>
            <a:r>
              <a:rPr lang="en-US" dirty="0"/>
              <a:t>Appears that as the amount of higher intensity cells surround a cell, the higher a cell’s intensity will be.</a:t>
            </a:r>
          </a:p>
        </p:txBody>
      </p:sp>
    </p:spTree>
    <p:extLst>
      <p:ext uri="{BB962C8B-B14F-4D97-AF65-F5344CB8AC3E}">
        <p14:creationId xmlns:p14="http://schemas.microsoft.com/office/powerpoint/2010/main" val="3022911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6D46-45E0-BE3B-1ECF-D57D1C2B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Crowding Score vs. Normalized Intensity Next Change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9855A-A1E7-BD10-87C4-9D982A1DA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395" y="1705260"/>
            <a:ext cx="6622129" cy="38102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9B3455-810D-A252-D254-61112FA94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3269" y="5426280"/>
            <a:ext cx="5853071" cy="14287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FCC6AC-9280-1413-D488-5A6C38E5E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2523" y="1691322"/>
            <a:ext cx="3709081" cy="2573551"/>
          </a:xfrm>
        </p:spPr>
        <p:txBody>
          <a:bodyPr/>
          <a:lstStyle/>
          <a:p>
            <a:r>
              <a:rPr lang="en-US" dirty="0"/>
              <a:t>Relatively high p-values not anything too noteworthy.</a:t>
            </a:r>
          </a:p>
        </p:txBody>
      </p:sp>
    </p:spTree>
    <p:extLst>
      <p:ext uri="{BB962C8B-B14F-4D97-AF65-F5344CB8AC3E}">
        <p14:creationId xmlns:p14="http://schemas.microsoft.com/office/powerpoint/2010/main" val="4091554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0CA0-4ABF-B1CD-CAB2-CBCF4AEC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Intensity Next Change Weighted Crowding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7BAD2-3A3C-6775-A097-CC8EEA24F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approach was to multiply influence score by how much the neighboring cell changed in intensity in their next time step.</a:t>
            </a:r>
          </a:p>
        </p:txBody>
      </p:sp>
    </p:spTree>
    <p:extLst>
      <p:ext uri="{BB962C8B-B14F-4D97-AF65-F5344CB8AC3E}">
        <p14:creationId xmlns:p14="http://schemas.microsoft.com/office/powerpoint/2010/main" val="1873232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6D46-45E0-BE3B-1ECF-D57D1C2B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Crowding Score vs. Normalized Intensity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9855A-A1E7-BD10-87C4-9D982A1DA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3838" y="1705260"/>
            <a:ext cx="6575243" cy="38102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9B3455-810D-A252-D254-61112FA94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3269" y="5444289"/>
            <a:ext cx="5853071" cy="139273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FCC6AC-9280-1413-D488-5A6C38E5E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2523" y="1691322"/>
            <a:ext cx="3709081" cy="25735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Has a </a:t>
            </a:r>
            <a:r>
              <a:rPr lang="en-US" dirty="0" err="1"/>
              <a:t>v-shape</a:t>
            </a:r>
            <a:endParaRPr lang="en-US" dirty="0"/>
          </a:p>
          <a:p>
            <a:r>
              <a:rPr lang="en-US" dirty="0"/>
              <a:t>Appears that cells with neighbors greatly changing in intensity will have a greater intensity.</a:t>
            </a:r>
          </a:p>
          <a:p>
            <a:r>
              <a:rPr lang="en-US" dirty="0"/>
              <a:t>Linear-regression indicates the relationship is stronger for intensity decreases.</a:t>
            </a:r>
          </a:p>
        </p:txBody>
      </p:sp>
    </p:spTree>
    <p:extLst>
      <p:ext uri="{BB962C8B-B14F-4D97-AF65-F5344CB8AC3E}">
        <p14:creationId xmlns:p14="http://schemas.microsoft.com/office/powerpoint/2010/main" val="135404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6D46-45E0-BE3B-1ECF-D57D1C2B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Crowding Score vs. Normalized Intensity Next Change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9855A-A1E7-BD10-87C4-9D982A1DA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3838" y="1705260"/>
            <a:ext cx="6575243" cy="3810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9B3455-810D-A252-D254-61112FA94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5009" y="5444289"/>
            <a:ext cx="5729590" cy="139273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FCC6AC-9280-1413-D488-5A6C38E5E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2523" y="1691322"/>
            <a:ext cx="3709081" cy="2573551"/>
          </a:xfrm>
        </p:spPr>
        <p:txBody>
          <a:bodyPr>
            <a:normAutofit/>
          </a:bodyPr>
          <a:lstStyle/>
          <a:p>
            <a:r>
              <a:rPr lang="en-US" dirty="0"/>
              <a:t>Appears that cell’s change in intensity follows closely with neighbors’ changes. </a:t>
            </a:r>
          </a:p>
        </p:txBody>
      </p:sp>
    </p:spTree>
    <p:extLst>
      <p:ext uri="{BB962C8B-B14F-4D97-AF65-F5344CB8AC3E}">
        <p14:creationId xmlns:p14="http://schemas.microsoft.com/office/powerpoint/2010/main" val="1513726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50A8-545B-DC77-B76B-211FF60C7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Intensity Previous Change Weighted Crowding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E0FF7-629A-1C04-D8F0-8192405E7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approach was to multiple influence score by how much neighboring cell’s intensity changed in the previous time step.</a:t>
            </a:r>
          </a:p>
        </p:txBody>
      </p:sp>
    </p:spTree>
    <p:extLst>
      <p:ext uri="{BB962C8B-B14F-4D97-AF65-F5344CB8AC3E}">
        <p14:creationId xmlns:p14="http://schemas.microsoft.com/office/powerpoint/2010/main" val="2647816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6D46-45E0-BE3B-1ECF-D57D1C2B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Crowding Score vs. Normalized Intensity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9855A-A1E7-BD10-87C4-9D982A1DA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3838" y="1707706"/>
            <a:ext cx="6575243" cy="3805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9B3455-810D-A252-D254-61112FA94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1104" y="5444289"/>
            <a:ext cx="5597401" cy="139273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FCC6AC-9280-1413-D488-5A6C38E5E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2523" y="1691322"/>
            <a:ext cx="3709081" cy="3640532"/>
          </a:xfrm>
        </p:spPr>
        <p:txBody>
          <a:bodyPr>
            <a:normAutofit/>
          </a:bodyPr>
          <a:lstStyle/>
          <a:p>
            <a:r>
              <a:rPr lang="en-US" dirty="0"/>
              <a:t>Has a </a:t>
            </a:r>
            <a:r>
              <a:rPr lang="en-US" dirty="0" err="1"/>
              <a:t>v-shape</a:t>
            </a:r>
            <a:endParaRPr lang="en-US" dirty="0"/>
          </a:p>
          <a:p>
            <a:r>
              <a:rPr lang="en-US" dirty="0"/>
              <a:t>Appears that cells with neighbors greatly changing in intensity will have a greater intensity.</a:t>
            </a:r>
          </a:p>
          <a:p>
            <a:r>
              <a:rPr lang="en-US" dirty="0"/>
              <a:t>Linear-regression indicates the relationship is stronger for intensity increases.</a:t>
            </a:r>
          </a:p>
          <a:p>
            <a:r>
              <a:rPr lang="en-US" dirty="0"/>
              <a:t>Opposite of Next Change Weighted</a:t>
            </a:r>
          </a:p>
        </p:txBody>
      </p:sp>
    </p:spTree>
    <p:extLst>
      <p:ext uri="{BB962C8B-B14F-4D97-AF65-F5344CB8AC3E}">
        <p14:creationId xmlns:p14="http://schemas.microsoft.com/office/powerpoint/2010/main" val="1719183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6D46-45E0-BE3B-1ECF-D57D1C2B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Crowding Score vs. Normalized Intensity Next Change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99855A-A1E7-BD10-87C4-9D982A1DA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563" y="1705260"/>
            <a:ext cx="6547793" cy="3810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9B3455-810D-A252-D254-61112FA94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9740" y="5444289"/>
            <a:ext cx="5560127" cy="139273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FCC6AC-9280-1413-D488-5A6C38E5E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2523" y="1691322"/>
            <a:ext cx="3709081" cy="2573551"/>
          </a:xfrm>
        </p:spPr>
        <p:txBody>
          <a:bodyPr>
            <a:normAutofit/>
          </a:bodyPr>
          <a:lstStyle/>
          <a:p>
            <a:r>
              <a:rPr lang="en-US" dirty="0"/>
              <a:t>Appears that cell’s change in intensity is opposite of neighbors’ overall previous change.</a:t>
            </a:r>
          </a:p>
        </p:txBody>
      </p:sp>
    </p:spTree>
    <p:extLst>
      <p:ext uri="{BB962C8B-B14F-4D97-AF65-F5344CB8AC3E}">
        <p14:creationId xmlns:p14="http://schemas.microsoft.com/office/powerpoint/2010/main" val="813527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3324A-6A0B-AA3C-881B-14F29C73F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it communication?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EE489-2158-7E4E-D0A8-300785F40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the graphs presented it is difficult to tell if cells are truly communicating or it there is something else causing this behavior.</a:t>
            </a:r>
          </a:p>
          <a:p>
            <a:r>
              <a:rPr lang="en-US" dirty="0"/>
              <a:t>Cells could just be acting similar because they come from the same parent and stay close together.</a:t>
            </a:r>
          </a:p>
        </p:txBody>
      </p:sp>
    </p:spTree>
    <p:extLst>
      <p:ext uri="{BB962C8B-B14F-4D97-AF65-F5344CB8AC3E}">
        <p14:creationId xmlns:p14="http://schemas.microsoft.com/office/powerpoint/2010/main" val="3101651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9668-597E-2B7C-6447-4AE25363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Autocorrelation (Moran’s I)</a:t>
            </a:r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C6735A8B-9BFD-F5A2-26EA-5A4D56AB5E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" y="1691321"/>
            <a:ext cx="9459298" cy="37493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E72DEB-32C1-C7DF-FE25-97852F9516EE}"/>
              </a:ext>
            </a:extLst>
          </p:cNvPr>
          <p:cNvSpPr txBox="1"/>
          <p:nvPr/>
        </p:nvSpPr>
        <p:spPr>
          <a:xfrm>
            <a:off x="1506829" y="5380672"/>
            <a:ext cx="67101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mbria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I-value has a range from -1 to 1.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mbria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 negative score indicates the value tends to be dispersed.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kern="100" dirty="0">
                <a:latin typeface="Cambria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 p</a:t>
            </a:r>
            <a:r>
              <a:rPr lang="en-US" sz="1800" kern="100" dirty="0">
                <a:effectLst/>
                <a:latin typeface="Cambria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ositive score indicates that the value tends to be clustered.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mbria" panose="020405030504060302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 value closer to 0 indicates the values are randomly dispersed.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494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tMassIntensity_Spatial_Animation">
            <a:hlinkClick r:id="" action="ppaction://media"/>
            <a:extLst>
              <a:ext uri="{FF2B5EF4-FFF2-40B4-BE49-F238E27FC236}">
                <a16:creationId xmlns:a16="http://schemas.microsoft.com/office/drawing/2014/main" id="{F83DCE3D-8385-A602-78C2-F6E414BAB22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77290" y="367393"/>
            <a:ext cx="7434943" cy="557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4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8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4693F-AFED-807C-A302-B4C6D208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65760"/>
            <a:ext cx="5997678" cy="1325562"/>
          </a:xfrm>
        </p:spPr>
        <p:txBody>
          <a:bodyPr>
            <a:normAutofit/>
          </a:bodyPr>
          <a:lstStyle/>
          <a:p>
            <a:r>
              <a:rPr lang="en-US" dirty="0"/>
              <a:t>Simulation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613FB-A755-416B-A538-229DAC8F6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139" y="2005739"/>
            <a:ext cx="6015571" cy="4174398"/>
          </a:xfrm>
        </p:spPr>
        <p:txBody>
          <a:bodyPr>
            <a:normAutofit/>
          </a:bodyPr>
          <a:lstStyle/>
          <a:p>
            <a:r>
              <a:rPr lang="en-US" dirty="0"/>
              <a:t>Attempt to replicate behaviors of cells in a simulation.</a:t>
            </a:r>
          </a:p>
          <a:p>
            <a:r>
              <a:rPr lang="en-US" dirty="0"/>
              <a:t>Make behavior to simulate potential hypothesis that cells are not communicating but rather because cells come from the same parent.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D5C339-597C-7547-B3D7-86D51B773A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87"/>
          <a:stretch/>
        </p:blipFill>
        <p:spPr>
          <a:xfrm>
            <a:off x="7538689" y="10"/>
            <a:ext cx="465331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29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267-ED1F-905D-A5D4-6EC8C01C7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365760"/>
            <a:ext cx="4835635" cy="1805940"/>
          </a:xfrm>
        </p:spPr>
        <p:txBody>
          <a:bodyPr>
            <a:normAutofit/>
          </a:bodyPr>
          <a:lstStyle/>
          <a:p>
            <a:r>
              <a:rPr lang="en-US" sz="4000" dirty="0"/>
              <a:t>Didn’t work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7AA0D3-A154-DAEF-DC49-6C1718965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306" y="2778357"/>
            <a:ext cx="5359559" cy="31405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F03D47-7885-C286-FC6A-9916624ED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80" y="2778357"/>
            <a:ext cx="5288726" cy="304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20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33EB6-A8A7-4EA0-8161-60757EF48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Simulating Intensity Changes is hard </a:t>
            </a:r>
            <a:r>
              <a:rPr lang="en-US" dirty="0">
                <a:sym typeface="Wingdings" panose="05000000000000000000" pitchFamily="2" charset="2"/>
              </a:rPr>
              <a:t>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02AA8-5EB8-5478-3D2C-08677AFD0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62" y="1691323"/>
            <a:ext cx="3880066" cy="23824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EAFA2B-8FA5-EFC0-3839-AF4CEA742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608" y="1720823"/>
            <a:ext cx="3880066" cy="2352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0B014F-02C6-3638-26F5-ABA0D7269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13" y="4227530"/>
            <a:ext cx="3971616" cy="24445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E6B645-AEBA-F9E5-084D-5C54EF3C4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6608" y="4388485"/>
            <a:ext cx="3880066" cy="236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636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FAE2C-AC26-AEAC-F825-949B42BF3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Attempted to sample from normal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CDC8D-1218-BF82-7142-B6229DD01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datasets follow the normal distribution. </a:t>
            </a:r>
          </a:p>
          <a:p>
            <a:r>
              <a:rPr lang="en-US" dirty="0"/>
              <a:t>These cell intensities don’t.</a:t>
            </a:r>
          </a:p>
          <a:p>
            <a:r>
              <a:rPr lang="en-US" dirty="0"/>
              <a:t>Tried it anyways.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87310-E01B-0684-5C87-73FC0B9B8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153" y="2773002"/>
            <a:ext cx="6051326" cy="371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1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B3984-D2A0-9BEA-6682-A0160519F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 dirty="0"/>
              <a:t>Future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CB8E5-456D-C86C-1F6C-B867D714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3575"/>
            <a:ext cx="4401509" cy="4246562"/>
          </a:xfrm>
        </p:spPr>
        <p:txBody>
          <a:bodyPr>
            <a:normAutofit/>
          </a:bodyPr>
          <a:lstStyle/>
          <a:p>
            <a:r>
              <a:rPr lang="en-US" dirty="0"/>
              <a:t>Improve simulation to better replicate actual cell intensities.</a:t>
            </a:r>
          </a:p>
          <a:p>
            <a:endParaRPr lang="en-US" dirty="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8A4F2483-8D58-95C2-EA4C-B7C0F0988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9706" y="1933575"/>
            <a:ext cx="3639872" cy="36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49235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141</TotalTime>
  <Words>640</Words>
  <Application>Microsoft Office PowerPoint</Application>
  <PresentationFormat>Widescreen</PresentationFormat>
  <Paragraphs>73</Paragraphs>
  <Slides>22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Cambria</vt:lpstr>
      <vt:lpstr>Cambria Math</vt:lpstr>
      <vt:lpstr>Century Schoolbook</vt:lpstr>
      <vt:lpstr>Wingdings</vt:lpstr>
      <vt:lpstr>Wingdings 2</vt:lpstr>
      <vt:lpstr>View</vt:lpstr>
      <vt:lpstr>Cell Proximity Influence on other Cell Intensity</vt:lpstr>
      <vt:lpstr>Background</vt:lpstr>
      <vt:lpstr>Quantifying Influence of Cells</vt:lpstr>
      <vt:lpstr>Gaussian Distance Band</vt:lpstr>
      <vt:lpstr>Edge Correction</vt:lpstr>
      <vt:lpstr>Intensity Weighted Crowding</vt:lpstr>
      <vt:lpstr>Crowding Score vs. Normalized Intensity</vt:lpstr>
      <vt:lpstr>Crowding Score vs. Normalized Intensity Next Change</vt:lpstr>
      <vt:lpstr>Intensity Next Change Weighted Crowding</vt:lpstr>
      <vt:lpstr>Crowding Score vs. Normalized Intensity</vt:lpstr>
      <vt:lpstr>Crowding Score vs. Normalized Intensity Next Change</vt:lpstr>
      <vt:lpstr>Intensity Previous Change Weighted Crowding</vt:lpstr>
      <vt:lpstr>Crowding Score vs. Normalized Intensity</vt:lpstr>
      <vt:lpstr>Crowding Score vs. Normalized Intensity Next Change</vt:lpstr>
      <vt:lpstr>Is it communication?</vt:lpstr>
      <vt:lpstr>Spatial Autocorrelation (Moran’s I)</vt:lpstr>
      <vt:lpstr>PowerPoint Presentation</vt:lpstr>
      <vt:lpstr>Simulation</vt:lpstr>
      <vt:lpstr>Didn’t work</vt:lpstr>
      <vt:lpstr>Simulating Intensity Changes is hard  </vt:lpstr>
      <vt:lpstr>Attempted to sample from normal distribution</vt:lpstr>
      <vt:lpstr>Future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Zhang</dc:creator>
  <cp:lastModifiedBy>Tony Zhang</cp:lastModifiedBy>
  <cp:revision>1</cp:revision>
  <dcterms:created xsi:type="dcterms:W3CDTF">2024-08-26T04:49:58Z</dcterms:created>
  <dcterms:modified xsi:type="dcterms:W3CDTF">2025-09-18T03:59:20Z</dcterms:modified>
</cp:coreProperties>
</file>